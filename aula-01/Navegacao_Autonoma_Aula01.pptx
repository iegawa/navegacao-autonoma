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Apresente-se, diga o nome da disciplina e que esta é a primeira de um percurso de dez aulas. Avise que hoje o foco é entender o escopo, não aprofundar algoritmos.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agenda rapidamente. Diga que os blocos vão do contexto geral (o que é autonomia) até o SLAM, que é o tema mais avançado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disciplina é prática e tem um projeto em ROS 2 ao longo do semestre. Peça para os alunos anotarem, no Diário, o que mais chamou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linha do tempo. Destaque a Semana 01 como a aula de hoje. Explique que a sequência vai do básico (pose e transformações) até o SLAM, e que os capítulos do livro Corke acompanham cada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as duas avaliações são individuais e que valem 50% cada. A entrega é feita por repositório git. A prova da semana 8 é técnica e avalia o desenvolvimento feito na entrega, então a organização do código e o entendimento do próprio trabalho são essenciais.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Diário como um novo formato de autoestudo. Explique cada um dos três tipos de registro com um exemplo. Enfatize que não é uma tarefa de correção, e sim uma ferramenta para organizar o estudo e preparar a prova e a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o conteúdo técnico. Diga que a partir daqui começamos a falar do tema central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escala para mostrar que autonomia não é uma escolha binária. Pergunte à turma: um robô que segue uma linha pintada no chão é autônomo? Deixe a discussão aberta. A ideia é que a autonomia de fato envolve decidir sem intervenção humana contínua.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diagrama da esquerda para a direita. Percepção coleta dados, localização responde onde estou, mapeamento registra o ambiente, planejamento decide a rota e controle executa o movimento. Esse ciclo se repete continuamente. Ao longo do curso, vamos estudar cada um desses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rovers. O Lunokhod era controlado da Terra, e cada comando levava segundos para chegar e voltar, o que tornava o trajeto lento. O Perseverance toma decisões de rota localmente, com câmeras e software de evitação de obstáculos, o que permite avançar mais rápido com menos dependência da comunicação. Pergunte à turma o que mudaria em uma missão com atraso de sinal de vários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tipo de ambiente, pergunte à turma o que seria mais difícil. Florestas e planetas não têm referências estáveis. Ambientes dinâmicos, com pessoas circulando, exigem reagir a algo que muda o tempo todo. Ambientes estruturados são os mais favoráveis.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 os blocos 2 e 3 com as três ideias principais. Pergunte rapidamente se há dúvidas antes de seguir para os sensores.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os sensores. Diga que a qualidade da navegação começa no que o robô consegue perceber.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tabela por linhas. Destaque que cada sensor tem um ponto forte e um ponto fraco. Use o exemplo da câmera e do GNSS para mostrar que o mesmo ambiente afeta sensores de formas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sensores reais. A Intel RealSense combina projetor infravermelho, par estéreo infravermelho e câmera RGB para gerar profundidade. A câmera estéreo usa duas lentes, como os nossos olhos. O LiDAR mede distâncias com laser e gera uma nuvem de pontos, como na imagem do carro autônomo, onde cada anel é uma varredura do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diagrama de fusão. Cada sensor cobre a falha do outro: a IMU e os encoders estimam movimento de curto prazo, o LiDAR ou a câmera corrigem a posição com base no ambiente, e o GNSS dá referência global quando disponível. Mensagem central: não existe sensor perfeito.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plataforma, cite o exemplo e o desafio. Drones têm limite de bateria e de carga. Robôs subaquáticos perdem comunicação de rádio rapidamente. Enxames precisam coordenar muitos agentes ao mesmo tempo, o que exige comunicação e distribuição de tarefas.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que simular: custo, segurança e repetibilidade. Não aprofunde nas ferramentas agora. A ideia é que os alunos saibam que elas existem e para que servem. Alerte sobre o sim-to-real gap: um controlador que funciona bem no simulador pode falhar no robô real por causa de atrito, ruído e latência que o modelo não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quadro comparativo focando em vantagens e forma de implementação. Não explique o funcionamento interno agora. Deixe claro que A* e Dijkstra garantem a melhor rota em mapas conhecidos, enquanto aprendizado por reforço e algoritmos genéticos ganham espaço quando o modelo é complexo ou o ambiente muda muito. Esses métodos serão vistos com profundidade nas aulas de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ideia de reação: o robô vê o obstáculo pelo sensor e muda o movimento na hora. O desafio é combinar isso com a rota global, porque reagir ao obstáculo pode afastar o robô do caminho planejado. Pergunte como os alunos resolveriam esse conflito.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dois tipos de mapa. O métrico tem medidas e é útil para desviar de obstáculos com precisão. O topológico é um grafo de lugares e conexões, útil para navegar em grandes áreas com menos dados. Na prática, muitos sistemas combinam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diferença com uma analogia: a pose é o que o robô é agora, o estado. A localização é o processo de descobrir essa pose em relação ao mapa. Mostre que erro no mapa ou sensor ruidoso degradam a localização, e que corredores iguais criam ambiguidade.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dilema do ovo e da galinha: para mapear, preciso saber onde estou; para saber onde estou, preciso de um mapa. O SLAM resolve os dois ao mesmo tempo. Cite exemplos como ORB-SLAM, Cartographer e GTSAM apenas como referências. Os tipos, filtros e otimização de grafos, serão vistos nas aulas de SLAM.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o mapa mental: sensores alimentam a percepção, que alimenta localização e mapa, que alimentam o planejamento, que termina no controle. Lembre a tarefa de casa: começar o Diário com pelo menos 3 termos, 2 perguntas e 1 dúvida. Próxima aula, 27/10, é sobre pose, frames e transformações com ROS 2 e tf2. Abra espaço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à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463040" cy="73152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 - Instituto de Tecnologia e Liderança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Computação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2044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73152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da disciplina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Cronograma, avaliações e Diário de Aprendizado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2044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783080"/>
            <a:ext cx="73152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47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básicos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4231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autonomia, componentes de um sistema de navegação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2044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783080"/>
            <a:ext cx="73152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47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 e plataformas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históricos, tipos de terreno, tipos de robô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73152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87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e simulação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robô percebe e onde testar antes do mundo real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4023360"/>
            <a:ext cx="352044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4023360"/>
            <a:ext cx="73152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187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obstáculos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traçar rotas e evitar colisões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0" y="4023360"/>
            <a:ext cx="352044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4023360"/>
            <a:ext cx="73152" cy="201168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4187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Mapas, localização e SLAM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2104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central da navegação moderna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disciplina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972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Compreender o que caracteriza a navegação autônoma em robôs móveis.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os componentes de um sistema de navegação e como eles se conectam.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Relacionar sensores, ambientes e plataformas às dificuldades de navegação.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os principais métodos de planejamento e de localização.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problema do SLAM e seus desafios.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é: estudantes de Engenharia da Computação com interesse em robótica, percepção e sistemas autônomos.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0698480" cy="0"/>
          </a:xfrm>
          <a:prstGeom prst="line">
            <a:avLst/>
          </a:prstGeom>
          <a:noFill/>
          <a:ln w="38100">
            <a:solidFill>
              <a:srgbClr val="1331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301752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01752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16-17/11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301752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301752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52560" y="301752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698480" y="301752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4984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14984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15-17/12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Pose, odometria, mapas, planejamento, localização, SLAM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44805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Atividade ponderada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07 (27/11)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Individual, entrega via repositório git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Prova técnica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08 (03/12)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Individual, sobre o desenvolvimento da entrega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prova avalia o que você construiu na atividade. Mantenha o repositório organizado desde o início.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Diário de Aprendizado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219456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Termos específicos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novos, com uma definição escrita com as suas palavras.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0440" cy="219456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4256" y="1828800"/>
            <a:ext cx="73152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Perguntas-chave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8576" y="24688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que surgem no estudo e guiam a próxima leitura.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828800"/>
            <a:ext cx="3520440" cy="219456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828800"/>
            <a:ext cx="73152" cy="219456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24688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ficou claro, para levar à aula seguinte ou ao plantão.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manter o diário: </a:t>
            </a:r>
            <a:pPr indent="0" marL="0">
              <a:buNone/>
            </a:pPr>
            <a:r>
              <a:rPr lang="en-US" sz="18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retomar ideias, identificar lacunas e preparar a prova e a atividade ponderada.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navegação autônoma?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128016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Navegar é ir de A até B com segurança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robô navega quando consegue </a:t>
            </a:r>
            <a:pPr indent="0" marL="0">
              <a:buNone/>
            </a:pPr>
            <a:r>
              <a:rPr lang="en-US" sz="18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localizar</a:t>
            </a:r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ambiente</a:t>
            </a:r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indent="0" marL="0">
              <a:buNone/>
            </a:pPr>
            <a:r>
              <a:rPr lang="en-US" sz="18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</a:t>
            </a:r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chegar ao destino sem colidir.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decide o movimento?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remoto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Operador, comando a comando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Brinquedo controlado por rádio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Teleoperação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Operador, com apoio do robô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Robô de inspeção com ajuda de câmera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Trajetória fixa, pré-programada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Braço industrial repetindo um percurso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próprio robô, com percepção e decisão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Robô que muda de rota ao encontrar obstáculo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 um sistema de navegação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057400" cy="2011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Percepção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dados do ambiente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2103120"/>
            <a:ext cx="2057400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7180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estou?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2103120"/>
            <a:ext cx="2057400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5780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há ao redor?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2057400" cy="2011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4380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onde ir?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640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692640" y="2103120"/>
            <a:ext cx="2057400" cy="2011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82980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Girar e andar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ciclo se repete continuamente. Ao longo do curso, vamos estudar cada um desses blocos.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rovers, duas formas de navegar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/tmp/claude-0/-home-claude/82cbd2b4-8ad5-58d3-8c95-7526c504f304/scratchpad/img0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329184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0" y="1737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Lunokhod (União Soviética, anos 1970)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Rover lunar operado remotamente a partir da Terra. Comandos enviados e confirmados com atraso de comunicação. Trajetos lentos, dependentes de equipe de controle.</a:t>
            </a:r>
            <a:endParaRPr lang="en-US" sz="1500" dirty="0"/>
          </a:p>
        </p:txBody>
      </p:sp>
      <p:pic>
        <p:nvPicPr>
          <p:cNvPr id="9" name="Image 1" descr="/tmp/claude-0/-home-claude/82cbd2b4-8ad5-58d3-8c95-7526c504f304/scratchpad/img02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297680"/>
            <a:ext cx="329184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0" y="4297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Perseverance (NASA, Marte)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com câmeras e software de evitação de obstáculos. Decide trechos de rota localmente, sem esperar a Terra. Reduz o impacto do atraso de sinal sobre o avanço.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114800" y="5806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 a autonomia diminui a dependência de comunicação e aumenta o ritmo da missão.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ambiente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Estruturados: fábricas e armazéns, com corredores e marcações definidas.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Semiestruturados: hospitais, campi e ruas com regras, mas com variações.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estruturados: florestas, subterrâneos e planetas, sem referências previsíveis.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Estáticos: o ambiente não muda enquanto o robô se move.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Dinâmicos: pessoas e outros agentes se movem o tempo todo.</a:t>
            </a:r>
            <a:endParaRPr lang="en-US" sz="1600" dirty="0"/>
          </a:p>
        </p:txBody>
      </p:sp>
      <p:pic>
        <p:nvPicPr>
          <p:cNvPr id="8" name="Image 0" descr="/tmp/claude-0/-home-claude/82cbd2b4-8ad5-58d3-8c95-7526c504f304/scratchpad/img0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737360"/>
            <a:ext cx="2514600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3794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Estruturado: corredor de armazém</a:t>
            </a:r>
            <a:endParaRPr lang="en-US" sz="1100" dirty="0"/>
          </a:p>
        </p:txBody>
      </p:sp>
      <p:pic>
        <p:nvPicPr>
          <p:cNvPr id="10" name="Image 1" descr="/tmp/claude-0/-home-claude/82cbd2b4-8ad5-58d3-8c95-7526c504f304/scratchpad/img0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18320" y="1737360"/>
            <a:ext cx="2514600" cy="2011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0" y="3794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Semiestruturado e dinâmico: robô em hospital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766560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variável e imprevisível, mais difícil navegar.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lembrar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29260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29260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 é decisão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robô percebe, decide e age sem intervenção humana contínua.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0440" cy="29260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4256" y="1828800"/>
            <a:ext cx="73152" cy="29260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tem componentes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8576" y="2468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Percepção, localização, mapeamento, planejamento e controle.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828800"/>
            <a:ext cx="3520440" cy="29260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828800"/>
            <a:ext cx="73152" cy="292608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define a dificuldade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2468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variável e dinâmico, mais difícil navegar.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e seu impacto na navegação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128016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sensores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5603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mede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Vantagem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Câmera (monocular, estéreo, RGB-D)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Imagem e, com estéreo ou RGB-D, profundidade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Rica em informação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Sofre com pouca luz e sem textura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Distâncias por laser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Medição precisa de geometria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e pouca informação de cor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Distância e velocidade por ondas de rádio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 com chuva e neblina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mais baixa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Sonar e ultrassom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Distância por som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Barato e simples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 curto e ruído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Aceleração e rotação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frequência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acumula com o tempo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Encoders de roda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Giro das rodas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 deslocamento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Falha com derrapagem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 / GPS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 global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Referência absoluta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funciona em ambientes internos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Image 0" descr="/tmp/claude-0/-home-claude/82cbd2b4-8ad5-58d3-8c95-7526c504f304/scratchpad/img0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347472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RGB-D (Intel RealSense)</a:t>
            </a:r>
            <a:endParaRPr lang="en-US" sz="1100" dirty="0"/>
          </a:p>
        </p:txBody>
      </p:sp>
      <p:pic>
        <p:nvPicPr>
          <p:cNvPr id="9" name="Image 1" descr="/tmp/claude-0/-home-claude/82cbd2b4-8ad5-58d3-8c95-7526c504f304/scratchpad/img06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737360"/>
            <a:ext cx="3474720" cy="2468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estéreo</a:t>
            </a:r>
            <a:endParaRPr lang="en-US" sz="1100" dirty="0"/>
          </a:p>
        </p:txBody>
      </p:sp>
      <p:pic>
        <p:nvPicPr>
          <p:cNvPr id="11" name="Image 2" descr="/tmp/claude-0/-home-claude/82cbd2b4-8ad5-58d3-8c95-7526c504f304/scratchpad/img07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737360"/>
            <a:ext cx="3474720" cy="2468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</a:t>
            </a:r>
            <a:endParaRPr lang="en-US" sz="1100" dirty="0"/>
          </a:p>
        </p:txBody>
      </p:sp>
      <p:pic>
        <p:nvPicPr>
          <p:cNvPr id="13" name="Image 3" descr="/tmp/claude-0/-home-claude/82cbd2b4-8ad5-58d3-8c95-7526c504f304/scratchpad/img08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4709160"/>
            <a:ext cx="5486400" cy="1554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09360" y="49377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Câmeras dão cor e textura. O LiDAR dá geometria precisa.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sensor perfeito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210312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e encoders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Estimam movimento de curto prazo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210312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73152" cy="210312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ou câmera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Corrigem a posição com base no ambiente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20440" cy="210312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73152" cy="2103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93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referência global, quando disponível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sensor compensa a limitação do outro. A navegação robusta vem da combinação.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robóticas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Desafio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Terrestres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Rodas, esteiras ou pernas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Terreno irregular e aderência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Aéreas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Drones multirrotor, como o Tello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Energia e carga limitadas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Aquáticas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ROVs, AUVs e USVs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 limitada debaixo d'água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braços robóticos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Manipuladores móveis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Coordenar base e braço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Multirrobô (enxames)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Vários robôs cooperam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Coordenação e comunicação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tmp/claude-0/-home-claude/82cbd2b4-8ad5-58d3-8c95-7526c504f304/scratchpad/img09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737360"/>
            <a:ext cx="3749040" cy="1554480"/>
          </a:xfrm>
          <a:prstGeom prst="rect">
            <a:avLst/>
          </a:prstGeom>
        </p:spPr>
      </p:pic>
      <p:pic>
        <p:nvPicPr>
          <p:cNvPr id="9" name="Image 1" descr="/tmp/claude-0/-home-claude/82cbd2b4-8ad5-58d3-8c95-7526c504f304/scratchpad/img10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3429000"/>
            <a:ext cx="3749040" cy="1371600"/>
          </a:xfrm>
          <a:prstGeom prst="rect">
            <a:avLst/>
          </a:prstGeom>
        </p:spPr>
      </p:pic>
      <p:pic>
        <p:nvPicPr>
          <p:cNvPr id="10" name="Image 2" descr="/tmp/claude-0/-home-claude/82cbd2b4-8ad5-58d3-8c95-7526c504f304/scratchpad/img11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63840" y="4937760"/>
            <a:ext cx="374904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simulação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simular: custo, segurança, repetibilidade e testes de cenários perigosos.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Ferramenta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típico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Gazebo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direta com ROS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Webots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Prototipagem de robôs móveis e educacional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CoppeliaSim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Cenários de pesquisa e robótica industrial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Isaac Sim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Simulação fotorrealista e acelerada por GPU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MuJoCo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Física detalhada e aprendizado por reforço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2286000"/>
            <a:ext cx="3840480" cy="219456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24688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Sim-to-real gap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funciona na simulação nem sempre funciona no robô real. Atrito, ruído e latência podem não estar no modelo.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de trajetórias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Global: </a:t>
            </a:r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 de A até B com o mapa conhecido.   </a:t>
            </a:r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ou reativo: </a:t>
            </a:r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desviar de obstáculos em tempo real.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Vantagem principal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costuma ser implementado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A*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 ótima com boa eficiência em mapas conhecidos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 grafo ou grade de ocupação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Dijkstra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Garante o caminho de menor custo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 grafo ou grade, sem heurística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Algoritmos genéticos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Exploram soluções em problemas complexos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Otimização de parâmetros de rota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Aprendizado por reforço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Aprendem política de ação em ambientes incertos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em simulação antes do robô real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Evitação de obstáculos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20116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93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Reagir a obstáculos detectados pelos sensores, alterando o movimento em tempo real.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20116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73152" cy="201168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93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a reação imediata com a rota global, sem perder o destino de vista.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para pensar</a:t>
            </a:r>
            <a:endParaRPr lang="en-US" sz="15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um obstáculo bloqueia o caminho planejado, o robô deve desviar, replanejar ou parar?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métricos e topológicos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pic>
        <p:nvPicPr>
          <p:cNvPr id="7" name="Image 0" descr="/tmp/claude-0/-home-claude/82cbd2b4-8ad5-58d3-8c95-7526c504f304/scratchpad/img1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39496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mesmo ambiente representado como mapa geométrico, topológico e grade de ocupação</a:t>
            </a:r>
            <a:endParaRPr lang="en-US" sz="1100" dirty="0"/>
          </a:p>
        </p:txBody>
      </p:sp>
      <p:pic>
        <p:nvPicPr>
          <p:cNvPr id="9" name="Image 1" descr="/tmp/claude-0/-home-claude/82cbd2b4-8ad5-58d3-8c95-7526c504f304/scratchpad/img16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737360"/>
            <a:ext cx="5394960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de ocupação real gerada por SLAM: cinza é livre, preto é obstáculo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Métrico: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geometria com medidas, bom para desviar com precisão.   </a:t>
            </a:r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Topológico: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e conexões, leve para grandes áreas.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 localização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754880" cy="29260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29260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93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estado do robô: posição e orientação, por exemplo x, y e θ no plano.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828800"/>
            <a:ext cx="5943600" cy="292608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828800"/>
            <a:ext cx="73152" cy="292608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993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2468880"/>
            <a:ext cx="5486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de estimar essa pose em relação a um mapa ou referência.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afeta a qualidade da localização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com erro gera localização com erro.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ruidoso gera estimativas instáveis.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 repetitivos, como corredores iguais, geram ambiguidade.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SLAM: mapear e localizar ao mesmo tempo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mapear, preciso saber onde estou. Para saber onde estou, preciso de um mapa. O SLAM resolve os dois ao mesmo tempo.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394960" cy="237744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73152" cy="23774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16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(câmera) e com LiDAR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Baseado em filtros (EKF, partículas)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Baseado em otimização de grafos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5394960" cy="237744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651760"/>
            <a:ext cx="73152" cy="23774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16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problemas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Acúmulo de drift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closure: reconhecer um lugar já visitado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 dinâmicos e custo computacional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para estudo futuro: ORB-SLAM, Cartographer, GTSAM.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e próximos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5486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69164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23160" y="1828800"/>
            <a:ext cx="1691640" cy="822960"/>
          </a:xfrm>
          <a:prstGeom prst="rect">
            <a:avLst/>
          </a:prstGeom>
          <a:solidFill>
            <a:srgbClr val="13315C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828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169164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828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1691640" cy="822960"/>
          </a:xfrm>
          <a:prstGeom prst="rect">
            <a:avLst/>
          </a:prstGeom>
          <a:solidFill>
            <a:srgbClr val="13315C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28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1828800"/>
            <a:ext cx="169164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828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3836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21240" y="1828800"/>
            <a:ext cx="1691640" cy="822960"/>
          </a:xfrm>
          <a:prstGeom prst="rect">
            <a:avLst/>
          </a:prstGeom>
          <a:solidFill>
            <a:srgbClr val="13315C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1828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5394960" cy="219456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291840"/>
            <a:ext cx="73152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 (27/10)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2960" y="39319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Pose, frames e transformações com ROS 2 e tf2.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291840"/>
            <a:ext cx="5394960" cy="219456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291840"/>
            <a:ext cx="73152" cy="219456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para casa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92240" y="39319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o Diário de Aprendizado: 3 termos, 2 perguntas e 1 dúvida.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Autônoma</a:t>
            </a:r>
            <a:pPr indent="0" marL="0">
              <a:buNone/>
            </a:pPr>
            <a:r>
              <a:rPr lang="en-US" sz="1100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463040" cy="73152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 - Instituto de Tecnologia e Liderança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Navegação Autônoma - Aula 01</dc:title>
  <dc:subject>PptxGenJS Presentation</dc:subject>
  <dc:creator>PptxGenJS</dc:creator>
  <cp:lastModifiedBy>PptxGenJS</cp:lastModifiedBy>
  <cp:revision>1</cp:revision>
  <dcterms:created xsi:type="dcterms:W3CDTF">2026-10-20T13:40:39Z</dcterms:created>
  <dcterms:modified xsi:type="dcterms:W3CDTF">2026-10-20T13:40:39Z</dcterms:modified>
</cp:coreProperties>
</file>